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8288000" cy="10287000"/>
  <p:notesSz cx="6858000" cy="9144000"/>
  <p:embeddedFontLst>
    <p:embeddedFont>
      <p:font typeface="Bebas Neue" panose="020B0604020202020204" charset="0"/>
      <p:regular r:id="rId16"/>
    </p:embeddedFont>
    <p:embeddedFont>
      <p:font typeface="Bebas Neue Bold" panose="020B0604020202020204" charset="0"/>
      <p:regular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Gidole" panose="020B0604020202020204" charset="0"/>
      <p:regular r:id="rId22"/>
    </p:embeddedFont>
    <p:embeddedFont>
      <p:font typeface="League Spartan" panose="020B0604020202020204" charset="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36021D-C62B-4DED-D097-86ADDEF356AC}" v="58" dt="2020-09-15T00:26:10.883"/>
    <p1510:client id="{7A78D1DE-10B4-DFBF-E2F9-7BE2ADA77041}" v="11" dt="2020-09-12T23:34:51.820"/>
    <p1510:client id="{83D4BAA1-5753-2AE2-8398-FF95BA7251F2}" v="162" dt="2020-09-14T23:24:17.708"/>
    <p1510:client id="{FC9F1866-F414-830F-1E78-0E05C33DE7B4}" v="77" dt="2020-09-14T15:16:20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8.fntdata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198225" y="-5856695"/>
            <a:ext cx="13732956" cy="17263903"/>
            <a:chOff x="0" y="0"/>
            <a:chExt cx="18310608" cy="23018538"/>
          </a:xfrm>
        </p:grpSpPr>
        <p:sp>
          <p:nvSpPr>
            <p:cNvPr id="3" name="AutoShape 3"/>
            <p:cNvSpPr/>
            <p:nvPr/>
          </p:nvSpPr>
          <p:spPr>
            <a:xfrm>
              <a:off x="0" y="7847894"/>
              <a:ext cx="14250739" cy="13716000"/>
            </a:xfrm>
            <a:prstGeom prst="rect">
              <a:avLst/>
            </a:prstGeom>
            <a:solidFill>
              <a:srgbClr val="1C2529"/>
            </a:solidFill>
          </p:spPr>
        </p:sp>
        <p:sp>
          <p:nvSpPr>
            <p:cNvPr id="4" name="AutoShape 4"/>
            <p:cNvSpPr/>
            <p:nvPr/>
          </p:nvSpPr>
          <p:spPr>
            <a:xfrm rot="-782927">
              <a:off x="9329737" y="387414"/>
              <a:ext cx="5975721" cy="22243709"/>
            </a:xfrm>
            <a:prstGeom prst="rect">
              <a:avLst/>
            </a:prstGeom>
            <a:solidFill>
              <a:srgbClr val="1C2529"/>
            </a:solidFill>
          </p:spPr>
        </p:sp>
        <p:sp>
          <p:nvSpPr>
            <p:cNvPr id="5" name="AutoShape 5"/>
            <p:cNvSpPr/>
            <p:nvPr/>
          </p:nvSpPr>
          <p:spPr>
            <a:xfrm rot="-782927">
              <a:off x="15801997" y="6526202"/>
              <a:ext cx="732723" cy="15814892"/>
            </a:xfrm>
            <a:prstGeom prst="rect">
              <a:avLst/>
            </a:prstGeom>
            <a:solidFill>
              <a:srgbClr val="FDD05A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028700" y="6927975"/>
            <a:ext cx="9659354" cy="2330325"/>
            <a:chOff x="0" y="0"/>
            <a:chExt cx="12879139" cy="3107100"/>
          </a:xfrm>
        </p:grpSpPr>
        <p:sp>
          <p:nvSpPr>
            <p:cNvPr id="7" name="TextBox 7"/>
            <p:cNvSpPr txBox="1"/>
            <p:nvPr/>
          </p:nvSpPr>
          <p:spPr>
            <a:xfrm>
              <a:off x="0" y="95250"/>
              <a:ext cx="12879139" cy="20383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11550"/>
                </a:lnSpc>
              </a:pPr>
              <a:r>
                <a:rPr lang="en-US" sz="10500" spc="262">
                  <a:solidFill>
                    <a:srgbClr val="FDD05A"/>
                  </a:solidFill>
                  <a:latin typeface="League Spartan"/>
                </a:rPr>
                <a:t>LUMINOUS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2367960"/>
              <a:ext cx="12874174" cy="73914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620"/>
                </a:lnSpc>
              </a:pPr>
              <a:r>
                <a:rPr lang="en-US" sz="3300" spc="198">
                  <a:solidFill>
                    <a:srgbClr val="E6DCCA"/>
                  </a:solidFill>
                  <a:latin typeface="Gidole"/>
                </a:rPr>
                <a:t>TURMA - 1CCO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0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7980" y="-526379"/>
            <a:ext cx="17412040" cy="10375398"/>
          </a:xfrm>
          <a:prstGeom prst="rect">
            <a:avLst/>
          </a:prstGeom>
          <a:solidFill>
            <a:srgbClr val="1C2529"/>
          </a:solidFill>
        </p:spPr>
      </p:sp>
      <p:sp>
        <p:nvSpPr>
          <p:cNvPr id="3" name="TextBox 3"/>
          <p:cNvSpPr txBox="1"/>
          <p:nvPr/>
        </p:nvSpPr>
        <p:spPr>
          <a:xfrm>
            <a:off x="4089464" y="971550"/>
            <a:ext cx="10109072" cy="10153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0"/>
              </a:lnSpc>
            </a:pPr>
            <a:r>
              <a:rPr lang="en-US" sz="6300" spc="315">
                <a:solidFill>
                  <a:srgbClr val="FDD05A"/>
                </a:solidFill>
                <a:latin typeface="League Spartan"/>
              </a:rPr>
              <a:t>CONTEXTUALIZAÇÃO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136841" y="3687075"/>
            <a:ext cx="14107223" cy="2756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>
              <a:lnSpc>
                <a:spcPts val="7488"/>
              </a:lnSpc>
              <a:buFont typeface="Arial"/>
              <a:buChar char="•"/>
            </a:pPr>
            <a:r>
              <a:rPr lang="en-US" sz="4950" spc="494">
                <a:solidFill>
                  <a:srgbClr val="FFFFFF"/>
                </a:solidFill>
                <a:latin typeface="Bebas Neue"/>
              </a:rPr>
              <a:t>PROBLEMA </a:t>
            </a:r>
          </a:p>
          <a:p>
            <a:pPr marL="685800" indent="-685800">
              <a:lnSpc>
                <a:spcPts val="7488"/>
              </a:lnSpc>
              <a:buFont typeface="Arial"/>
              <a:buChar char="•"/>
            </a:pPr>
            <a:r>
              <a:rPr lang="en-US" sz="4950" spc="494">
                <a:solidFill>
                  <a:srgbClr val="FFFFFF"/>
                </a:solidFill>
                <a:latin typeface="Bebas Neue"/>
              </a:rPr>
              <a:t>SOLUÇÃO</a:t>
            </a:r>
          </a:p>
          <a:p>
            <a:pPr marL="685800" indent="-685800">
              <a:lnSpc>
                <a:spcPts val="7488"/>
              </a:lnSpc>
              <a:buFont typeface="Arial"/>
              <a:buChar char="•"/>
            </a:pPr>
            <a:r>
              <a:rPr lang="en-US" sz="4950" spc="494">
                <a:solidFill>
                  <a:srgbClr val="FFFFFF"/>
                </a:solidFill>
                <a:latin typeface="Bebas Neue"/>
              </a:rPr>
              <a:t>BENEFICIOS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3481" y="3481"/>
            <a:ext cx="4351447" cy="4344485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D05A"/>
            </a:solidFill>
          </p:spPr>
        </p:sp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767"/>
          <a:stretch>
            <a:fillRect/>
          </a:stretch>
        </p:blipFill>
        <p:spPr>
          <a:xfrm>
            <a:off x="2070370" y="3207057"/>
            <a:ext cx="14147261" cy="4281785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765739" y="492010"/>
            <a:ext cx="8756522" cy="101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0"/>
              </a:lnSpc>
            </a:pPr>
            <a:r>
              <a:rPr lang="en-US" sz="6300" spc="315">
                <a:solidFill>
                  <a:srgbClr val="FDD05A"/>
                </a:solidFill>
                <a:latin typeface="League Spartan"/>
              </a:rPr>
              <a:t>BACKLOG LEGADO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0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7980" y="-526379"/>
            <a:ext cx="17412040" cy="10375398"/>
          </a:xfrm>
          <a:prstGeom prst="rect">
            <a:avLst/>
          </a:prstGeom>
          <a:solidFill>
            <a:srgbClr val="1C2529"/>
          </a:solidFill>
        </p:spPr>
      </p:sp>
      <p:sp>
        <p:nvSpPr>
          <p:cNvPr id="3" name="TextBox 3"/>
          <p:cNvSpPr txBox="1"/>
          <p:nvPr/>
        </p:nvSpPr>
        <p:spPr>
          <a:xfrm>
            <a:off x="4089464" y="971550"/>
            <a:ext cx="10109072" cy="10515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0"/>
              </a:lnSpc>
            </a:pPr>
            <a:r>
              <a:rPr lang="en-US" sz="6300" spc="315">
                <a:solidFill>
                  <a:srgbClr val="FDD05A"/>
                </a:solidFill>
                <a:latin typeface="League Spartan"/>
              </a:rPr>
              <a:t>NOVO PRODUTO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7327026" y="3278391"/>
            <a:ext cx="5729553" cy="37186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685800" indent="-685800">
              <a:lnSpc>
                <a:spcPts val="7488"/>
              </a:lnSpc>
              <a:buFont typeface="Arial"/>
              <a:buChar char="•"/>
            </a:pPr>
            <a:r>
              <a:rPr lang="en-US" sz="4950" spc="494">
                <a:solidFill>
                  <a:srgbClr val="FFFFFF"/>
                </a:solidFill>
                <a:latin typeface="Bebas Neue"/>
              </a:rPr>
              <a:t>POR QUE</a:t>
            </a:r>
          </a:p>
          <a:p>
            <a:pPr marL="685800" indent="-685800">
              <a:lnSpc>
                <a:spcPts val="7488"/>
              </a:lnSpc>
              <a:buFont typeface="Arial"/>
              <a:buChar char="•"/>
            </a:pPr>
            <a:r>
              <a:rPr lang="en-US" sz="4950" spc="494">
                <a:solidFill>
                  <a:srgbClr val="FFFFFF"/>
                </a:solidFill>
                <a:latin typeface="Bebas Neue"/>
                <a:cs typeface="Calibri"/>
              </a:rPr>
              <a:t>OBJETIVO</a:t>
            </a:r>
          </a:p>
          <a:p>
            <a:pPr marL="685800" indent="-685800">
              <a:lnSpc>
                <a:spcPts val="7488"/>
              </a:lnSpc>
              <a:buFont typeface="Arial"/>
              <a:buChar char="•"/>
            </a:pPr>
            <a:r>
              <a:rPr lang="en-US" sz="4950" spc="494">
                <a:solidFill>
                  <a:srgbClr val="FFFFFF"/>
                </a:solidFill>
                <a:latin typeface="Bebas Neue"/>
                <a:cs typeface="Calibri"/>
              </a:rPr>
              <a:t>BENEFICIOS</a:t>
            </a:r>
          </a:p>
          <a:p>
            <a:pPr marL="685800" indent="-685800">
              <a:lnSpc>
                <a:spcPts val="7488"/>
              </a:lnSpc>
              <a:buFont typeface="Arial"/>
              <a:buChar char="•"/>
            </a:pPr>
            <a:endParaRPr lang="en-US" sz="4950" spc="494">
              <a:solidFill>
                <a:srgbClr val="FFFFFF"/>
              </a:solidFill>
              <a:latin typeface="Bebas Neue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D05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37980" y="-526379"/>
            <a:ext cx="17412040" cy="10375398"/>
          </a:xfrm>
          <a:prstGeom prst="rect">
            <a:avLst/>
          </a:prstGeom>
          <a:solidFill>
            <a:srgbClr val="1C2529"/>
          </a:solidFill>
        </p:spPr>
      </p:sp>
      <p:sp>
        <p:nvSpPr>
          <p:cNvPr id="3" name="TextBox 3"/>
          <p:cNvSpPr txBox="1"/>
          <p:nvPr/>
        </p:nvSpPr>
        <p:spPr>
          <a:xfrm>
            <a:off x="4089464" y="971550"/>
            <a:ext cx="10109072" cy="10310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0"/>
              </a:lnSpc>
            </a:pPr>
            <a:r>
              <a:rPr lang="en-US" sz="6300" spc="315">
                <a:solidFill>
                  <a:srgbClr val="FDD05A"/>
                </a:solidFill>
                <a:latin typeface="League Spartan"/>
              </a:rPr>
              <a:t>LLD</a:t>
            </a:r>
            <a:endParaRPr lang="en-US"/>
          </a:p>
        </p:txBody>
      </p:sp>
      <p:pic>
        <p:nvPicPr>
          <p:cNvPr id="5" name="Picture 5" descr="A screenshot of a cell phone&#10;&#10;Description automatically generated">
            <a:extLst>
              <a:ext uri="{FF2B5EF4-FFF2-40B4-BE49-F238E27FC236}">
                <a16:creationId xmlns:a16="http://schemas.microsoft.com/office/drawing/2014/main" id="{E7EDD62B-CA0E-470C-839E-CCAC6FDB4A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189" y="2302493"/>
            <a:ext cx="11766176" cy="6623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793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7700891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2466"/>
          <a:stretch>
            <a:fillRect/>
          </a:stretch>
        </p:blipFill>
        <p:spPr>
          <a:xfrm>
            <a:off x="1457095" y="1469090"/>
            <a:ext cx="5762576" cy="393639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290127" y="5589493"/>
            <a:ext cx="7395288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70"/>
              </a:lnSpc>
            </a:pPr>
            <a:r>
              <a:rPr lang="en-US" sz="3000" spc="179">
                <a:solidFill>
                  <a:srgbClr val="000000"/>
                </a:solidFill>
                <a:latin typeface="League Spartan Bold"/>
              </a:rPr>
              <a:t>ROBERTO BRITTO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57095" y="6973907"/>
            <a:ext cx="597691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800" spc="126">
                <a:solidFill>
                  <a:srgbClr val="000000"/>
                </a:solidFill>
                <a:latin typeface="Gidole"/>
              </a:rPr>
              <a:t>CARGO:  ANALISTA DE MONITORAMENTO</a:t>
            </a:r>
          </a:p>
        </p:txBody>
      </p:sp>
      <p:grpSp>
        <p:nvGrpSpPr>
          <p:cNvPr id="6" name="Group 6"/>
          <p:cNvGrpSpPr/>
          <p:nvPr/>
        </p:nvGrpSpPr>
        <p:grpSpPr>
          <a:xfrm rot="5400000">
            <a:off x="3429000" y="4928280"/>
            <a:ext cx="8229600" cy="430441"/>
            <a:chOff x="0" y="0"/>
            <a:chExt cx="10926512" cy="571500"/>
          </a:xfrm>
        </p:grpSpPr>
        <p:sp>
          <p:nvSpPr>
            <p:cNvPr id="7" name="Freeform 7"/>
            <p:cNvSpPr/>
            <p:nvPr/>
          </p:nvSpPr>
          <p:spPr>
            <a:xfrm>
              <a:off x="0" y="255270"/>
              <a:ext cx="10926512" cy="69850"/>
            </a:xfrm>
            <a:custGeom>
              <a:avLst/>
              <a:gdLst/>
              <a:ahLst/>
              <a:cxnLst/>
              <a:rect l="l" t="t" r="r" b="b"/>
              <a:pathLst>
                <a:path w="10926512" h="69850">
                  <a:moveTo>
                    <a:pt x="10635682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0926512" y="69850"/>
                  </a:lnTo>
                  <a:lnTo>
                    <a:pt x="1092651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0464194" y="1934564"/>
            <a:ext cx="9321145" cy="106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217"/>
              </a:lnSpc>
            </a:pPr>
            <a:r>
              <a:rPr lang="en-US" sz="5869" spc="680">
                <a:solidFill>
                  <a:srgbClr val="000000"/>
                </a:solidFill>
                <a:latin typeface="Bebas Neue Bold"/>
              </a:rPr>
              <a:t>USER STORY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57095" y="7454782"/>
            <a:ext cx="5224350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IDADE : 30 ANOS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16986" y="7454782"/>
            <a:ext cx="522318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CASADO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716986" y="7984532"/>
            <a:ext cx="522318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EARLY-ADOPTER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8259" y="8112697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UTILIZA MUITOS SERVIÇOS WEB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4767" y="8674345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TRABALHA LIGADO A ÁREA DE TI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458259" y="6221953"/>
            <a:ext cx="5224350" cy="53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64"/>
              </a:lnSpc>
            </a:pPr>
            <a:r>
              <a:rPr lang="en-US" sz="2400" spc="127">
                <a:solidFill>
                  <a:srgbClr val="000000"/>
                </a:solidFill>
                <a:latin typeface="Bebas Neue Bold"/>
              </a:rPr>
              <a:t>INFORMAÇÕES: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781834" y="4189024"/>
            <a:ext cx="8477466" cy="3399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spc="297">
                <a:solidFill>
                  <a:srgbClr val="000000"/>
                </a:solidFill>
                <a:latin typeface="Bebas Neue"/>
              </a:rPr>
              <a:t>"Eu, enquanto um analista de monitoramento, quero uma ferramenta confiável e de fácil usabilidade, porque preciso analisar o comportamento de hardware e segurança com maior precisão para evitar casualidades e indisponibilidades do sistema".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7700891" cy="8229600"/>
          </a:xfrm>
          <a:prstGeom prst="rect">
            <a:avLst/>
          </a:prstGeom>
          <a:solidFill>
            <a:srgbClr val="FFFFFF"/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 r="2466"/>
          <a:stretch>
            <a:fillRect/>
          </a:stretch>
        </p:blipFill>
        <p:spPr>
          <a:xfrm>
            <a:off x="1457095" y="1469090"/>
            <a:ext cx="5762576" cy="3936396"/>
          </a:xfrm>
          <a:prstGeom prst="rect">
            <a:avLst/>
          </a:prstGeom>
        </p:spPr>
      </p:pic>
      <p:sp>
        <p:nvSpPr>
          <p:cNvPr id="4" name="TextBox 4"/>
          <p:cNvSpPr txBox="1"/>
          <p:nvPr/>
        </p:nvSpPr>
        <p:spPr>
          <a:xfrm>
            <a:off x="2290127" y="5589493"/>
            <a:ext cx="7395288" cy="422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70"/>
              </a:lnSpc>
            </a:pPr>
            <a:r>
              <a:rPr lang="en-US" sz="3000" spc="179">
                <a:solidFill>
                  <a:srgbClr val="000000"/>
                </a:solidFill>
                <a:latin typeface="League Spartan Bold"/>
              </a:rPr>
              <a:t>ROBERTO BRITTO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457095" y="6973907"/>
            <a:ext cx="597691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800" spc="126">
                <a:solidFill>
                  <a:srgbClr val="000000"/>
                </a:solidFill>
                <a:latin typeface="Gidole"/>
              </a:rPr>
              <a:t>CARGO:  ANALISTA DE MONITORAMENTO</a:t>
            </a:r>
          </a:p>
        </p:txBody>
      </p:sp>
      <p:grpSp>
        <p:nvGrpSpPr>
          <p:cNvPr id="6" name="Group 6"/>
          <p:cNvGrpSpPr/>
          <p:nvPr/>
        </p:nvGrpSpPr>
        <p:grpSpPr>
          <a:xfrm rot="5400000">
            <a:off x="3429000" y="4928280"/>
            <a:ext cx="8229600" cy="430441"/>
            <a:chOff x="0" y="0"/>
            <a:chExt cx="10926512" cy="571500"/>
          </a:xfrm>
        </p:grpSpPr>
        <p:sp>
          <p:nvSpPr>
            <p:cNvPr id="7" name="Freeform 7"/>
            <p:cNvSpPr/>
            <p:nvPr/>
          </p:nvSpPr>
          <p:spPr>
            <a:xfrm>
              <a:off x="0" y="255270"/>
              <a:ext cx="10926512" cy="69850"/>
            </a:xfrm>
            <a:custGeom>
              <a:avLst/>
              <a:gdLst/>
              <a:ahLst/>
              <a:cxnLst/>
              <a:rect l="l" t="t" r="r" b="b"/>
              <a:pathLst>
                <a:path w="10926512" h="69850">
                  <a:moveTo>
                    <a:pt x="10635682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0926512" y="69850"/>
                  </a:lnTo>
                  <a:lnTo>
                    <a:pt x="1092651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8" name="TextBox 8"/>
          <p:cNvSpPr txBox="1"/>
          <p:nvPr/>
        </p:nvSpPr>
        <p:spPr>
          <a:xfrm>
            <a:off x="1457095" y="7454782"/>
            <a:ext cx="5224350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IDADE : 30 ANOS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716986" y="7454782"/>
            <a:ext cx="522318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CASADO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16986" y="7984532"/>
            <a:ext cx="522318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EARLY-ADOPTER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58259" y="8112697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UTILIZA MUITOS SERVIÇOS WEB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454767" y="8674345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TRABALHA LIGADO A ÁREA DE TI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458259" y="6221953"/>
            <a:ext cx="5224350" cy="53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64"/>
              </a:lnSpc>
            </a:pPr>
            <a:r>
              <a:rPr lang="en-US" sz="2400" spc="127">
                <a:solidFill>
                  <a:srgbClr val="000000"/>
                </a:solidFill>
                <a:latin typeface="Bebas Neue Bold"/>
              </a:rPr>
              <a:t>INFORMAÇÕES: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0" y="2528157"/>
            <a:ext cx="8450548" cy="1337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5580"/>
              </a:lnSpc>
              <a:buFont typeface="Arial"/>
              <a:buChar char="•"/>
            </a:pPr>
            <a:r>
              <a:rPr lang="en-US" sz="3000" spc="159">
                <a:solidFill>
                  <a:srgbClr val="000000"/>
                </a:solidFill>
                <a:latin typeface="Bebas Neue"/>
              </a:rPr>
              <a:t>NECESSITA DE INFORMAÇÕES CLARAS PARA O MONITORAMENTO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0" y="3982804"/>
            <a:ext cx="8477466" cy="116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 spc="297">
                <a:solidFill>
                  <a:srgbClr val="000000"/>
                </a:solidFill>
                <a:latin typeface="Bebas Neue"/>
              </a:rPr>
              <a:t>TEVE DIFICULDADE COM AS FERRAMENTAS DE MONITORAMENTO ANTERIORES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144000" y="5374194"/>
            <a:ext cx="8448666" cy="638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5580"/>
              </a:lnSpc>
              <a:buFont typeface="Arial"/>
              <a:buChar char="•"/>
            </a:pPr>
            <a:r>
              <a:rPr lang="en-US" sz="3000" spc="159">
                <a:solidFill>
                  <a:srgbClr val="000000"/>
                </a:solidFill>
                <a:latin typeface="Bebas Neue"/>
              </a:rPr>
              <a:t>NECESSITA DE UMA INTERFACE BEM VISUAL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0" y="1345265"/>
            <a:ext cx="9321145" cy="106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217"/>
              </a:lnSpc>
            </a:pPr>
            <a:r>
              <a:rPr lang="en-US" sz="5869" spc="680">
                <a:solidFill>
                  <a:srgbClr val="000000"/>
                </a:solidFill>
                <a:latin typeface="Bebas Neue Bold"/>
              </a:rPr>
              <a:t>DORES/NECESSIDADES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4000" y="6461968"/>
            <a:ext cx="8477466" cy="116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 spc="297">
                <a:solidFill>
                  <a:srgbClr val="000000"/>
                </a:solidFill>
                <a:latin typeface="Bebas Neue"/>
              </a:rPr>
              <a:t>PRECISA DE APOIO DE UMA APLICAÇÃO PARA MONITORAMENTO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144000" y="7805504"/>
            <a:ext cx="8477466" cy="116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 spc="297">
                <a:solidFill>
                  <a:srgbClr val="000000"/>
                </a:solidFill>
                <a:latin typeface="Bebas Neue"/>
              </a:rPr>
              <a:t>NECESSITA DE UMA APLICAÇÃO DE CONFIANÇA QUE NÃO DEIXE-O NA MÃO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7700891" cy="822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Box 3"/>
          <p:cNvSpPr txBox="1"/>
          <p:nvPr/>
        </p:nvSpPr>
        <p:spPr>
          <a:xfrm>
            <a:off x="1748712" y="5548838"/>
            <a:ext cx="7395288" cy="57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60"/>
              </a:lnSpc>
            </a:pPr>
            <a:r>
              <a:rPr lang="en-US" sz="4000" spc="240">
                <a:solidFill>
                  <a:srgbClr val="000000"/>
                </a:solidFill>
                <a:latin typeface="League Spartan Bold"/>
              </a:rPr>
              <a:t>ANA CAROLINNA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55343" y="7009447"/>
            <a:ext cx="597691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800" spc="126">
                <a:solidFill>
                  <a:srgbClr val="000000"/>
                </a:solidFill>
                <a:latin typeface="Gidole"/>
              </a:rPr>
              <a:t>CARGO : SUPERVISORA </a:t>
            </a:r>
          </a:p>
        </p:txBody>
      </p:sp>
      <p:grpSp>
        <p:nvGrpSpPr>
          <p:cNvPr id="5" name="Group 5"/>
          <p:cNvGrpSpPr/>
          <p:nvPr/>
        </p:nvGrpSpPr>
        <p:grpSpPr>
          <a:xfrm rot="5400000">
            <a:off x="-1028700" y="6985680"/>
            <a:ext cx="4114800" cy="430441"/>
            <a:chOff x="0" y="0"/>
            <a:chExt cx="5463256" cy="571500"/>
          </a:xfrm>
        </p:grpSpPr>
        <p:sp>
          <p:nvSpPr>
            <p:cNvPr id="6" name="Freeform 6"/>
            <p:cNvSpPr/>
            <p:nvPr/>
          </p:nvSpPr>
          <p:spPr>
            <a:xfrm>
              <a:off x="0" y="255270"/>
              <a:ext cx="5463256" cy="69850"/>
            </a:xfrm>
            <a:custGeom>
              <a:avLst/>
              <a:gdLst/>
              <a:ahLst/>
              <a:cxnLst/>
              <a:rect l="l" t="t" r="r" b="b"/>
              <a:pathLst>
                <a:path w="5463256" h="69850">
                  <a:moveTo>
                    <a:pt x="5172426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5463256" y="69850"/>
                  </a:lnTo>
                  <a:lnTo>
                    <a:pt x="546325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3429000" y="4928280"/>
            <a:ext cx="8229600" cy="430441"/>
            <a:chOff x="0" y="0"/>
            <a:chExt cx="10926512" cy="571500"/>
          </a:xfrm>
        </p:grpSpPr>
        <p:sp>
          <p:nvSpPr>
            <p:cNvPr id="8" name="Freeform 8"/>
            <p:cNvSpPr/>
            <p:nvPr/>
          </p:nvSpPr>
          <p:spPr>
            <a:xfrm>
              <a:off x="0" y="255270"/>
              <a:ext cx="10926512" cy="69850"/>
            </a:xfrm>
            <a:custGeom>
              <a:avLst/>
              <a:gdLst/>
              <a:ahLst/>
              <a:cxnLst/>
              <a:rect l="l" t="t" r="r" b="b"/>
              <a:pathLst>
                <a:path w="10926512" h="69850">
                  <a:moveTo>
                    <a:pt x="10635682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0926512" y="69850"/>
                  </a:lnTo>
                  <a:lnTo>
                    <a:pt x="1092651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l="7085" r="7085" b="16216"/>
          <a:stretch>
            <a:fillRect/>
          </a:stretch>
        </p:blipFill>
        <p:spPr>
          <a:xfrm>
            <a:off x="1243920" y="1238411"/>
            <a:ext cx="6000555" cy="3905089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0665044" y="1609725"/>
            <a:ext cx="9321145" cy="106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217"/>
              </a:lnSpc>
            </a:pPr>
            <a:r>
              <a:rPr lang="en-US" sz="5869" spc="680">
                <a:solidFill>
                  <a:srgbClr val="000000"/>
                </a:solidFill>
                <a:latin typeface="Bebas Neue Bold"/>
              </a:rPr>
              <a:t>USER STORY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28024" y="6890048"/>
            <a:ext cx="1890600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IDADE : 25 ANOS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7175837"/>
            <a:ext cx="5240992" cy="220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41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1328024" y="7692646"/>
            <a:ext cx="133698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SOLTEIRA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28024" y="8369044"/>
            <a:ext cx="265143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CONECTADA EARLY-ADOPTER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55343" y="7787896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UTILIZA MUITOS SERVIÇOS WEB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55343" y="8497209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TRABALHA LIGADO A ÁREA DE TI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28024" y="6088603"/>
            <a:ext cx="2176350" cy="53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64"/>
              </a:lnSpc>
            </a:pPr>
            <a:r>
              <a:rPr lang="en-US" sz="2400" spc="127">
                <a:solidFill>
                  <a:srgbClr val="000000"/>
                </a:solidFill>
                <a:latin typeface="Bebas Neue Bold"/>
              </a:rPr>
              <a:t>INFORMAÇÕES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781834" y="3667490"/>
            <a:ext cx="8477466" cy="33991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00"/>
              </a:lnSpc>
            </a:pPr>
            <a:r>
              <a:rPr lang="en-US" sz="3000" spc="297">
                <a:solidFill>
                  <a:srgbClr val="000000"/>
                </a:solidFill>
                <a:latin typeface="Bebas Neue"/>
              </a:rPr>
              <a:t>"eu, enquanto supervisora, quero que minha equipe tenha um melhor desempenho com a ferramenta nova e tenha uma boa produtividade na analise, porque preciso que minha equipe garanta um monitoramento eficiente da cpu, memoria e armazenamento".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7700891" cy="822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Box 3"/>
          <p:cNvSpPr txBox="1"/>
          <p:nvPr/>
        </p:nvSpPr>
        <p:spPr>
          <a:xfrm>
            <a:off x="1748712" y="5548838"/>
            <a:ext cx="7395288" cy="57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60"/>
              </a:lnSpc>
            </a:pPr>
            <a:r>
              <a:rPr lang="en-US" sz="4000" spc="240">
                <a:solidFill>
                  <a:srgbClr val="000000"/>
                </a:solidFill>
                <a:latin typeface="League Spartan Bold"/>
              </a:rPr>
              <a:t>ANA CAROLINNA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555343" y="7009447"/>
            <a:ext cx="597691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800" spc="126">
                <a:solidFill>
                  <a:srgbClr val="000000"/>
                </a:solidFill>
                <a:latin typeface="Gidole"/>
              </a:rPr>
              <a:t>CARGO : SUPERVISORA </a:t>
            </a:r>
          </a:p>
        </p:txBody>
      </p:sp>
      <p:grpSp>
        <p:nvGrpSpPr>
          <p:cNvPr id="5" name="Group 5"/>
          <p:cNvGrpSpPr/>
          <p:nvPr/>
        </p:nvGrpSpPr>
        <p:grpSpPr>
          <a:xfrm rot="5400000">
            <a:off x="-1028700" y="6985680"/>
            <a:ext cx="4114800" cy="430441"/>
            <a:chOff x="0" y="0"/>
            <a:chExt cx="5463256" cy="571500"/>
          </a:xfrm>
        </p:grpSpPr>
        <p:sp>
          <p:nvSpPr>
            <p:cNvPr id="6" name="Freeform 6"/>
            <p:cNvSpPr/>
            <p:nvPr/>
          </p:nvSpPr>
          <p:spPr>
            <a:xfrm>
              <a:off x="0" y="255270"/>
              <a:ext cx="5463256" cy="69850"/>
            </a:xfrm>
            <a:custGeom>
              <a:avLst/>
              <a:gdLst/>
              <a:ahLst/>
              <a:cxnLst/>
              <a:rect l="l" t="t" r="r" b="b"/>
              <a:pathLst>
                <a:path w="5463256" h="69850">
                  <a:moveTo>
                    <a:pt x="5172426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5463256" y="69850"/>
                  </a:lnTo>
                  <a:lnTo>
                    <a:pt x="546325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3429000" y="4928280"/>
            <a:ext cx="8229600" cy="430441"/>
            <a:chOff x="0" y="0"/>
            <a:chExt cx="10926512" cy="571500"/>
          </a:xfrm>
        </p:grpSpPr>
        <p:sp>
          <p:nvSpPr>
            <p:cNvPr id="8" name="Freeform 8"/>
            <p:cNvSpPr/>
            <p:nvPr/>
          </p:nvSpPr>
          <p:spPr>
            <a:xfrm>
              <a:off x="0" y="255270"/>
              <a:ext cx="10926512" cy="69850"/>
            </a:xfrm>
            <a:custGeom>
              <a:avLst/>
              <a:gdLst/>
              <a:ahLst/>
              <a:cxnLst/>
              <a:rect l="l" t="t" r="r" b="b"/>
              <a:pathLst>
                <a:path w="10926512" h="69850">
                  <a:moveTo>
                    <a:pt x="10635682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0926512" y="69850"/>
                  </a:lnTo>
                  <a:lnTo>
                    <a:pt x="1092651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l="7085" r="7085" b="16216"/>
          <a:stretch>
            <a:fillRect/>
          </a:stretch>
        </p:blipFill>
        <p:spPr>
          <a:xfrm>
            <a:off x="1243920" y="1238411"/>
            <a:ext cx="6000555" cy="3905089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328024" y="6890048"/>
            <a:ext cx="1890600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IDADE : 25 ANOS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175837"/>
            <a:ext cx="5240992" cy="2208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841"/>
              </a:lnSpc>
            </a:pPr>
            <a:endParaRPr/>
          </a:p>
        </p:txBody>
      </p:sp>
      <p:sp>
        <p:nvSpPr>
          <p:cNvPr id="12" name="TextBox 12"/>
          <p:cNvSpPr txBox="1"/>
          <p:nvPr/>
        </p:nvSpPr>
        <p:spPr>
          <a:xfrm>
            <a:off x="1328024" y="7692646"/>
            <a:ext cx="133698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SOLTEIRA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28024" y="8369044"/>
            <a:ext cx="265143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CONECTADA EARLY-ADOPTER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55343" y="7787896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UTILIZA MUITOS SERVIÇOS WEB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55343" y="8497209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TRABALHA LIGADO A ÁREA DE TI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28024" y="6088603"/>
            <a:ext cx="2176350" cy="53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64"/>
              </a:lnSpc>
            </a:pPr>
            <a:r>
              <a:rPr lang="en-US" sz="2400" spc="127">
                <a:solidFill>
                  <a:srgbClr val="000000"/>
                </a:solidFill>
                <a:latin typeface="Bebas Neue Bold"/>
              </a:rPr>
              <a:t>INFORMAÇÕES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585855" y="3427312"/>
            <a:ext cx="8450548" cy="6382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5580"/>
              </a:lnSpc>
              <a:buFont typeface="Arial"/>
              <a:buChar char="•"/>
            </a:pPr>
            <a:r>
              <a:rPr lang="en-US" sz="3000" spc="159">
                <a:solidFill>
                  <a:srgbClr val="000000"/>
                </a:solidFill>
                <a:latin typeface="Bebas Neue"/>
              </a:rPr>
              <a:t>ORÇAMENTO LIMITADO PARA ATIVIDADE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600255" y="4332002"/>
            <a:ext cx="8477466" cy="116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 spc="297">
                <a:solidFill>
                  <a:srgbClr val="000000"/>
                </a:solidFill>
                <a:latin typeface="Bebas Neue"/>
              </a:rPr>
              <a:t>NECESSITA QUE SEUS FUNCIONÁRIOS TENHAM UM BOM DESEMPENHO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643456" y="5540702"/>
            <a:ext cx="8448666" cy="1337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5580"/>
              </a:lnSpc>
              <a:buFont typeface="Arial"/>
              <a:buChar char="•"/>
            </a:pPr>
            <a:r>
              <a:rPr lang="en-US" sz="3000" spc="159">
                <a:solidFill>
                  <a:srgbClr val="000000"/>
                </a:solidFill>
                <a:latin typeface="Bebas Neue"/>
              </a:rPr>
              <a:t>PRECISA ACHAR UMA FERRAMENTA, QUE TODA A EQUIPE POSSA USAR PARA MONITORAR OS SERVIÇOS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585855" y="1804030"/>
            <a:ext cx="9321145" cy="106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217"/>
              </a:lnSpc>
            </a:pPr>
            <a:r>
              <a:rPr lang="en-US" sz="5869" spc="680">
                <a:solidFill>
                  <a:srgbClr val="000000"/>
                </a:solidFill>
                <a:latin typeface="Bebas Neue Bold"/>
              </a:rPr>
              <a:t>DORES/NECESSIDADES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43456" y="7198449"/>
            <a:ext cx="8477466" cy="116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 spc="297">
                <a:solidFill>
                  <a:srgbClr val="000000"/>
                </a:solidFill>
                <a:latin typeface="Bebas Neue"/>
              </a:rPr>
              <a:t>SEUS SISTEMAS FICAM LENTOS CONSTANTEMENTE PELA FALTA DE MONITORAMENTO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7700891" cy="822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Box 3"/>
          <p:cNvSpPr txBox="1"/>
          <p:nvPr/>
        </p:nvSpPr>
        <p:spPr>
          <a:xfrm>
            <a:off x="1748712" y="5451221"/>
            <a:ext cx="7395288" cy="57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60"/>
              </a:lnSpc>
            </a:pPr>
            <a:r>
              <a:rPr lang="en-US" sz="4000" spc="240">
                <a:solidFill>
                  <a:srgbClr val="000000"/>
                </a:solidFill>
                <a:latin typeface="League Spartan Bold"/>
              </a:rPr>
              <a:t>SARAH HEVELYN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17875" y="6670139"/>
            <a:ext cx="597691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800" spc="126">
                <a:solidFill>
                  <a:srgbClr val="000000"/>
                </a:solidFill>
                <a:latin typeface="Gidole"/>
              </a:rPr>
              <a:t>CARGO : SUPERVISORA DE CONTRATO</a:t>
            </a:r>
          </a:p>
        </p:txBody>
      </p:sp>
      <p:grpSp>
        <p:nvGrpSpPr>
          <p:cNvPr id="5" name="Group 5"/>
          <p:cNvGrpSpPr/>
          <p:nvPr/>
        </p:nvGrpSpPr>
        <p:grpSpPr>
          <a:xfrm rot="5400000">
            <a:off x="-1028700" y="6985680"/>
            <a:ext cx="4114800" cy="430441"/>
            <a:chOff x="0" y="0"/>
            <a:chExt cx="5463256" cy="571500"/>
          </a:xfrm>
        </p:grpSpPr>
        <p:sp>
          <p:nvSpPr>
            <p:cNvPr id="6" name="Freeform 6"/>
            <p:cNvSpPr/>
            <p:nvPr/>
          </p:nvSpPr>
          <p:spPr>
            <a:xfrm>
              <a:off x="0" y="255270"/>
              <a:ext cx="5463256" cy="69850"/>
            </a:xfrm>
            <a:custGeom>
              <a:avLst/>
              <a:gdLst/>
              <a:ahLst/>
              <a:cxnLst/>
              <a:rect l="l" t="t" r="r" b="b"/>
              <a:pathLst>
                <a:path w="5463256" h="69850">
                  <a:moveTo>
                    <a:pt x="5172426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5463256" y="69850"/>
                  </a:lnTo>
                  <a:lnTo>
                    <a:pt x="546325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3429000" y="4928280"/>
            <a:ext cx="8229600" cy="430441"/>
            <a:chOff x="0" y="0"/>
            <a:chExt cx="10926512" cy="571500"/>
          </a:xfrm>
        </p:grpSpPr>
        <p:sp>
          <p:nvSpPr>
            <p:cNvPr id="8" name="Freeform 8"/>
            <p:cNvSpPr/>
            <p:nvPr/>
          </p:nvSpPr>
          <p:spPr>
            <a:xfrm>
              <a:off x="0" y="255270"/>
              <a:ext cx="10926512" cy="69850"/>
            </a:xfrm>
            <a:custGeom>
              <a:avLst/>
              <a:gdLst/>
              <a:ahLst/>
              <a:cxnLst/>
              <a:rect l="l" t="t" r="r" b="b"/>
              <a:pathLst>
                <a:path w="10926512" h="69850">
                  <a:moveTo>
                    <a:pt x="10635682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0926512" y="69850"/>
                  </a:lnTo>
                  <a:lnTo>
                    <a:pt x="1092651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9271655" y="4137053"/>
            <a:ext cx="8450548" cy="2456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3"/>
              </a:lnSpc>
            </a:pPr>
            <a:r>
              <a:rPr lang="en-US" sz="3000" spc="297">
                <a:solidFill>
                  <a:srgbClr val="000000"/>
                </a:solidFill>
                <a:latin typeface="Bebas Neue"/>
              </a:rPr>
              <a:t>"Eu, enquanto supervisora de contrato, quero que o serviço tenha disponibilidade integral, porque preciso garantir o cumprimento dos contratos estabelecidos sem problemas".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19455" y="2044321"/>
            <a:ext cx="9321145" cy="106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217"/>
              </a:lnSpc>
            </a:pPr>
            <a:r>
              <a:rPr lang="en-US" sz="5869" spc="680">
                <a:solidFill>
                  <a:srgbClr val="000000"/>
                </a:solidFill>
                <a:latin typeface="Bebas Neue Bold"/>
              </a:rPr>
              <a:t>USER STORY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70761" y="7184769"/>
            <a:ext cx="5224350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IDADE : 35 ANOS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71925" y="7852439"/>
            <a:ext cx="522318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CASADA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19039" y="8528837"/>
            <a:ext cx="522318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CONECTADA EARLY-ADOPTER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984360" y="7820812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UTILIZA MUITOS SERVIÇOS WEB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932207" y="8640544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TRABALHA LIGADO A ÁREA DE TI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617875" y="6056758"/>
            <a:ext cx="5224350" cy="53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64"/>
              </a:lnSpc>
            </a:pPr>
            <a:r>
              <a:rPr lang="en-US" sz="2400" spc="127">
                <a:solidFill>
                  <a:srgbClr val="000000"/>
                </a:solidFill>
                <a:latin typeface="Bebas Neue Bold"/>
              </a:rPr>
              <a:t>INFORMAÇÕES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2"/>
          <a:srcRect l="126" t="2094" r="126"/>
          <a:stretch>
            <a:fillRect/>
          </a:stretch>
        </p:blipFill>
        <p:spPr>
          <a:xfrm>
            <a:off x="1236129" y="1272796"/>
            <a:ext cx="6092451" cy="40065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1028700"/>
            <a:ext cx="17700891" cy="82296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Box 3"/>
          <p:cNvSpPr txBox="1"/>
          <p:nvPr/>
        </p:nvSpPr>
        <p:spPr>
          <a:xfrm>
            <a:off x="1748712" y="5451221"/>
            <a:ext cx="7395288" cy="570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360"/>
              </a:lnSpc>
            </a:pPr>
            <a:r>
              <a:rPr lang="en-US" sz="4000" spc="240">
                <a:solidFill>
                  <a:srgbClr val="000000"/>
                </a:solidFill>
                <a:latin typeface="League Spartan Bold"/>
              </a:rPr>
              <a:t>SARAH HEVELYN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617875" y="6670139"/>
            <a:ext cx="5976915" cy="3257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sz="1800" spc="126">
                <a:solidFill>
                  <a:srgbClr val="000000"/>
                </a:solidFill>
                <a:latin typeface="Gidole"/>
              </a:rPr>
              <a:t>CARGO : SUPERVISORA DE CONTRATO</a:t>
            </a:r>
          </a:p>
        </p:txBody>
      </p:sp>
      <p:grpSp>
        <p:nvGrpSpPr>
          <p:cNvPr id="5" name="Group 5"/>
          <p:cNvGrpSpPr/>
          <p:nvPr/>
        </p:nvGrpSpPr>
        <p:grpSpPr>
          <a:xfrm rot="5400000">
            <a:off x="-1028700" y="6985680"/>
            <a:ext cx="4114800" cy="430441"/>
            <a:chOff x="0" y="0"/>
            <a:chExt cx="5463256" cy="571500"/>
          </a:xfrm>
        </p:grpSpPr>
        <p:sp>
          <p:nvSpPr>
            <p:cNvPr id="6" name="Freeform 6"/>
            <p:cNvSpPr/>
            <p:nvPr/>
          </p:nvSpPr>
          <p:spPr>
            <a:xfrm>
              <a:off x="0" y="255270"/>
              <a:ext cx="5463256" cy="69850"/>
            </a:xfrm>
            <a:custGeom>
              <a:avLst/>
              <a:gdLst/>
              <a:ahLst/>
              <a:cxnLst/>
              <a:rect l="l" t="t" r="r" b="b"/>
              <a:pathLst>
                <a:path w="5463256" h="69850">
                  <a:moveTo>
                    <a:pt x="5172426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5463256" y="69850"/>
                  </a:lnTo>
                  <a:lnTo>
                    <a:pt x="5463256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id="7" name="Group 7"/>
          <p:cNvGrpSpPr/>
          <p:nvPr/>
        </p:nvGrpSpPr>
        <p:grpSpPr>
          <a:xfrm rot="5400000">
            <a:off x="3429000" y="4928280"/>
            <a:ext cx="8229600" cy="430441"/>
            <a:chOff x="0" y="0"/>
            <a:chExt cx="10926512" cy="571500"/>
          </a:xfrm>
        </p:grpSpPr>
        <p:sp>
          <p:nvSpPr>
            <p:cNvPr id="8" name="Freeform 8"/>
            <p:cNvSpPr/>
            <p:nvPr/>
          </p:nvSpPr>
          <p:spPr>
            <a:xfrm>
              <a:off x="0" y="255270"/>
              <a:ext cx="10926512" cy="69850"/>
            </a:xfrm>
            <a:custGeom>
              <a:avLst/>
              <a:gdLst/>
              <a:ahLst/>
              <a:cxnLst/>
              <a:rect l="l" t="t" r="r" b="b"/>
              <a:pathLst>
                <a:path w="10926512" h="69850">
                  <a:moveTo>
                    <a:pt x="10635682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10926512" y="69850"/>
                  </a:lnTo>
                  <a:lnTo>
                    <a:pt x="10926512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9" name="TextBox 9"/>
          <p:cNvSpPr txBox="1"/>
          <p:nvPr/>
        </p:nvSpPr>
        <p:spPr>
          <a:xfrm>
            <a:off x="1670761" y="7184769"/>
            <a:ext cx="5224350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IDADE : 35 ANOS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71925" y="7852439"/>
            <a:ext cx="522318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CASADA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619039" y="8528837"/>
            <a:ext cx="5223186" cy="420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22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CONECTADA EARLY-ADOPTER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984360" y="7820812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UTILIZA MUITOS SERVIÇOS WEB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932207" y="8640544"/>
            <a:ext cx="5223186" cy="291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80"/>
              </a:lnSpc>
            </a:pPr>
            <a:r>
              <a:rPr lang="en-US" sz="1893" spc="100">
                <a:solidFill>
                  <a:srgbClr val="000000"/>
                </a:solidFill>
                <a:latin typeface="Bebas Neue"/>
              </a:rPr>
              <a:t>TRABALHA LIGADO A ÁREA DE TI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17875" y="6056758"/>
            <a:ext cx="5224350" cy="5371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464"/>
              </a:lnSpc>
            </a:pPr>
            <a:r>
              <a:rPr lang="en-US" sz="2400" spc="127">
                <a:solidFill>
                  <a:srgbClr val="000000"/>
                </a:solidFill>
                <a:latin typeface="Bebas Neue Bold"/>
              </a:rPr>
              <a:t>INFORMAÇÕES</a:t>
            </a: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2"/>
          <a:srcRect l="126" t="2094" r="126"/>
          <a:stretch>
            <a:fillRect/>
          </a:stretch>
        </p:blipFill>
        <p:spPr>
          <a:xfrm>
            <a:off x="1236129" y="1272796"/>
            <a:ext cx="6092451" cy="4006548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9144000" y="2512131"/>
            <a:ext cx="8450548" cy="1337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5580"/>
              </a:lnSpc>
              <a:buFont typeface="Arial"/>
              <a:buChar char="•"/>
            </a:pPr>
            <a:r>
              <a:rPr lang="en-US" sz="3000" spc="159">
                <a:solidFill>
                  <a:srgbClr val="000000"/>
                </a:solidFill>
                <a:latin typeface="Bebas Neue Bold"/>
              </a:rPr>
              <a:t>SOFREU COM indisponibilidade do sistema e perdeu contratos, sofrendo financeiramente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4000" y="4252425"/>
            <a:ext cx="8477466" cy="116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 spc="297">
                <a:solidFill>
                  <a:srgbClr val="000000"/>
                </a:solidFill>
                <a:latin typeface="Bebas Neue Bold"/>
              </a:rPr>
              <a:t>PRECISA DE UM SISTEMA CONFIÁVEL PARA QUE POSSA CUMPRIR COM OS PRAZOS E CONTRATOS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144000" y="5917824"/>
            <a:ext cx="7807392" cy="1078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200"/>
              </a:lnSpc>
              <a:buFont typeface="Arial"/>
              <a:buChar char="•"/>
            </a:pPr>
            <a:r>
              <a:rPr lang="en-US" sz="3000" spc="159">
                <a:solidFill>
                  <a:srgbClr val="000000"/>
                </a:solidFill>
                <a:latin typeface="Bebas Neue Bold"/>
              </a:rPr>
              <a:t>PRECISA DE UM SERVIÇO QUE FORNEÇA MONITORAMENTO CONSTANTE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155393" y="1304925"/>
            <a:ext cx="9321145" cy="10623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217"/>
              </a:lnSpc>
            </a:pPr>
            <a:r>
              <a:rPr lang="en-US" sz="5869" spc="680">
                <a:solidFill>
                  <a:srgbClr val="000000"/>
                </a:solidFill>
                <a:latin typeface="Bebas Neue Bold"/>
              </a:rPr>
              <a:t>DORES/NECESSIDADES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144000" y="7348291"/>
            <a:ext cx="8477466" cy="11606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4740"/>
              </a:lnSpc>
              <a:buFont typeface="Arial"/>
              <a:buChar char="•"/>
            </a:pPr>
            <a:r>
              <a:rPr lang="en-US" sz="3000" spc="297">
                <a:solidFill>
                  <a:srgbClr val="000000"/>
                </a:solidFill>
                <a:latin typeface="Bebas Neue Bold"/>
              </a:rPr>
              <a:t>sOFRÊ COM PROBLEMAS RELACIONADOS A ESTRESSE SEMPRE QUANDO HÁ INDISPONIBILIDADE DO SERVIÇO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5013389" y="971550"/>
            <a:ext cx="8261222" cy="101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0"/>
              </a:lnSpc>
            </a:pPr>
            <a:r>
              <a:rPr lang="en-US" sz="6300" spc="315">
                <a:solidFill>
                  <a:srgbClr val="FDD05A"/>
                </a:solidFill>
                <a:latin typeface="League Spartan"/>
              </a:rPr>
              <a:t>LEAN UX CANVAS</a:t>
            </a:r>
          </a:p>
        </p:txBody>
      </p:sp>
      <p:pic>
        <p:nvPicPr>
          <p:cNvPr id="4" name="Picture 4" descr="A screenshot of a cell phone&#10;&#10;Description automatically generated">
            <a:extLst>
              <a:ext uri="{FF2B5EF4-FFF2-40B4-BE49-F238E27FC236}">
                <a16:creationId xmlns:a16="http://schemas.microsoft.com/office/drawing/2014/main" id="{D3471ECF-B320-42AB-8A3A-7A62FE461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8583" y="2282933"/>
            <a:ext cx="11984772" cy="67247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37113" y="1998228"/>
            <a:ext cx="10613773" cy="7579421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-603218" y="492010"/>
            <a:ext cx="19494436" cy="101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0"/>
              </a:lnSpc>
            </a:pPr>
            <a:r>
              <a:rPr lang="en-US" sz="6300" spc="315">
                <a:solidFill>
                  <a:srgbClr val="FDD05A"/>
                </a:solidFill>
                <a:latin typeface="League Spartan"/>
              </a:rPr>
              <a:t>PROTÓTIPO PAINEL NOVA APLICAÇÃO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5400000">
            <a:off x="-3481" y="3481"/>
            <a:ext cx="4351447" cy="4344485"/>
            <a:chOff x="0" y="0"/>
            <a:chExt cx="6350000" cy="63398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39840"/>
            </a:xfrm>
            <a:custGeom>
              <a:avLst/>
              <a:gdLst/>
              <a:ahLst/>
              <a:cxnLst/>
              <a:rect l="l" t="t" r="r" b="b"/>
              <a:pathLst>
                <a:path w="6350000" h="6339840">
                  <a:moveTo>
                    <a:pt x="6350000" y="6339840"/>
                  </a:moveTo>
                  <a:lnTo>
                    <a:pt x="0" y="63398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DD05A"/>
            </a:solidFill>
          </p:spPr>
        </p:sp>
      </p:grp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t="588" b="895"/>
          <a:stretch>
            <a:fillRect/>
          </a:stretch>
        </p:blipFill>
        <p:spPr>
          <a:xfrm>
            <a:off x="2250880" y="2372645"/>
            <a:ext cx="13786241" cy="5524500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4175189" y="492010"/>
            <a:ext cx="13442822" cy="1016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90"/>
              </a:lnSpc>
            </a:pPr>
            <a:r>
              <a:rPr lang="en-US" sz="6300" spc="315">
                <a:solidFill>
                  <a:srgbClr val="FDD05A"/>
                </a:solidFill>
                <a:latin typeface="League Spartan"/>
              </a:rPr>
              <a:t>BACKLOG NOVA APLICAÇÃO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luminous</dc:title>
  <cp:revision>4</cp:revision>
  <dcterms:created xsi:type="dcterms:W3CDTF">2006-08-16T00:00:00Z</dcterms:created>
  <dcterms:modified xsi:type="dcterms:W3CDTF">2020-09-15T00:28:20Z</dcterms:modified>
  <dc:identifier>DAEHUSj33dw</dc:identifier>
</cp:coreProperties>
</file>